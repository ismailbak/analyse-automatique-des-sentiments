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Analyse Automatique des Sentiments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Projet NLP - Dataset Sentiment140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📋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🎯 Objectif: Classifier automatiquement les sentiments dans les tweets</a:t>
            </a:r>
          </a:p>
          <a:p>
            <a:pPr>
              <a:spcBef>
                <a:spcPts val="1200"/>
              </a:spcBef>
              <a:defRPr sz="1800"/>
            </a:pPr>
            <a:r>
              <a:t>📊 Dataset: Sentiment140 (1.6 million de tweets)</a:t>
            </a:r>
          </a:p>
          <a:p>
            <a:pPr>
              <a:spcBef>
                <a:spcPts val="1200"/>
              </a:spcBef>
              <a:defRPr sz="1800"/>
            </a:pPr>
            <a:r>
              <a:t>⚖️ Classes: Positif (😊) vs Négatif (😞)</a:t>
            </a:r>
          </a:p>
          <a:p>
            <a:pPr>
              <a:spcBef>
                <a:spcPts val="1200"/>
              </a:spcBef>
              <a:defRPr sz="1800"/>
            </a:pPr>
            <a:r>
              <a:t>🛠️ Technologie: Python, Scikit-learn, NLTK, Pandas</a:t>
            </a:r>
          </a:p>
          <a:p>
            <a:pPr>
              <a:spcBef>
                <a:spcPts val="1200"/>
              </a:spcBef>
              <a:defRPr sz="1800"/>
            </a:pPr>
            <a:r>
              <a:t>📅 Période: Semaines 1-3 du planning projet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📊 Dataset: Sentiment140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✓ Source: Stanford University (Twitter data)</a:t>
            </a:r>
          </a:p>
          <a:p>
            <a:pPr>
              <a:spcBef>
                <a:spcPts val="1200"/>
              </a:spcBef>
              <a:defRPr sz="1800"/>
            </a:pPr>
            <a:r>
              <a:t>✓ Taille: 1,600,000 tweets</a:t>
            </a:r>
          </a:p>
          <a:p>
            <a:pPr>
              <a:spcBef>
                <a:spcPts val="1200"/>
              </a:spcBef>
              <a:defRPr sz="1800"/>
            </a:pPr>
            <a:r>
              <a:t>✓ Distribution: 800K négatifs (0) + 800K positifs (4)</a:t>
            </a:r>
          </a:p>
          <a:p>
            <a:pPr>
              <a:spcBef>
                <a:spcPts val="1200"/>
              </a:spcBef>
              <a:defRPr sz="1800"/>
            </a:pPr>
            <a:r>
              <a:t>✓ Balance parfaite: 50% / 50%</a:t>
            </a:r>
          </a:p>
          <a:p>
            <a:pPr>
              <a:spcBef>
                <a:spcPts val="1200"/>
              </a:spcBef>
              <a:defRPr sz="1800"/>
            </a:pPr>
            <a:r>
              <a:t>✓ Colonnes: target, text, user, date, ids</a:t>
            </a:r>
          </a:p>
          <a:p>
            <a:pPr>
              <a:spcBef>
                <a:spcPts val="1200"/>
              </a:spcBef>
              <a:defRPr sz="1800"/>
            </a:pPr>
            <a:r>
              <a:t>✓ Fichier: 73.2 MB après nettoyage</a:t>
            </a:r>
          </a:p>
          <a:p>
            <a:pPr>
              <a:spcBef>
                <a:spcPts val="1200"/>
              </a:spcBef>
              <a:defRPr sz="1800"/>
            </a:pPr>
            <a:r>
              <a:t>✓ Échantillon utilisé: 100,000 tweets (50K+50K)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🔍 Semaine 1: Exploration Initiale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✓ Téléchargement du dataset depuis Kaggle</a:t>
            </a:r>
          </a:p>
          <a:p>
            <a:pPr>
              <a:spcBef>
                <a:spcPts val="1200"/>
              </a:spcBef>
              <a:defRPr sz="1800"/>
            </a:pPr>
            <a:r>
              <a:t>✓ Chargement avec encoding latin-1</a:t>
            </a:r>
          </a:p>
          <a:p>
            <a:pPr>
              <a:spcBef>
                <a:spcPts val="1200"/>
              </a:spcBef>
              <a:defRPr sz="1800"/>
            </a:pPr>
            <a:r>
              <a:t>✓ Analyse de la structure des données</a:t>
            </a:r>
          </a:p>
          <a:p>
            <a:pPr>
              <a:spcBef>
                <a:spcPts val="1200"/>
              </a:spcBef>
              <a:defRPr sz="1800"/>
            </a:pPr>
            <a:r>
              <a:t>✓ Vérification des valeurs manquantes: 0</a:t>
            </a:r>
          </a:p>
          <a:p>
            <a:pPr>
              <a:spcBef>
                <a:spcPts val="1200"/>
              </a:spcBef>
              <a:defRPr sz="1800"/>
            </a:pPr>
            <a:r>
              <a:t>✓ Statistiques textuelles:</a:t>
            </a:r>
          </a:p>
          <a:p>
            <a:pPr>
              <a:spcBef>
                <a:spcPts val="1200"/>
              </a:spcBef>
              <a:defRPr sz="1800"/>
            </a:pPr>
            <a:r>
              <a:t>   • Longueur moyenne: 74 caractères</a:t>
            </a:r>
          </a:p>
          <a:p>
            <a:pPr>
              <a:spcBef>
                <a:spcPts val="1200"/>
              </a:spcBef>
              <a:defRPr sz="1800"/>
            </a:pPr>
            <a:r>
              <a:t>   • Nombre moyen de mots: 13 mots/tweet</a:t>
            </a:r>
          </a:p>
          <a:p>
            <a:pPr>
              <a:spcBef>
                <a:spcPts val="1200"/>
              </a:spcBef>
              <a:defRPr sz="1800"/>
            </a:pPr>
            <a:r>
              <a:t>   • Distribution équilibrée confirmée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🧹 Semaine 2: Prétraitement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✓ Nettoyage du texte:</a:t>
            </a:r>
          </a:p>
          <a:p>
            <a:pPr>
              <a:spcBef>
                <a:spcPts val="1200"/>
              </a:spcBef>
              <a:defRPr sz="1800"/>
            </a:pPr>
            <a:r>
              <a:t>   • Conversion en minuscules</a:t>
            </a:r>
          </a:p>
          <a:p>
            <a:pPr>
              <a:spcBef>
                <a:spcPts val="1200"/>
              </a:spcBef>
              <a:defRPr sz="1800"/>
            </a:pPr>
            <a:r>
              <a:t>   • Suppression des URLs (http://, https://)</a:t>
            </a:r>
          </a:p>
          <a:p>
            <a:pPr>
              <a:spcBef>
                <a:spcPts val="1200"/>
              </a:spcBef>
              <a:defRPr sz="1800"/>
            </a:pPr>
            <a:r>
              <a:t>   • Suppression des mentions (@user)</a:t>
            </a:r>
          </a:p>
          <a:p>
            <a:pPr>
              <a:spcBef>
                <a:spcPts val="1200"/>
              </a:spcBef>
              <a:defRPr sz="1800"/>
            </a:pPr>
            <a:r>
              <a:t>   • Suppression des hashtags (#topic)</a:t>
            </a:r>
          </a:p>
          <a:p>
            <a:pPr>
              <a:spcBef>
                <a:spcPts val="1200"/>
              </a:spcBef>
              <a:defRPr sz="1800"/>
            </a:pPr>
            <a:r>
              <a:t>   • Suppression des caractères spéciaux et chiffres</a:t>
            </a:r>
          </a:p>
          <a:p>
            <a:pPr>
              <a:spcBef>
                <a:spcPts val="1200"/>
              </a:spcBef>
              <a:defRPr sz="1800"/>
            </a:pPr>
            <a:r>
              <a:t>   • Normalisation des espaces</a:t>
            </a:r>
          </a:p>
          <a:p>
            <a:pPr>
              <a:spcBef>
                <a:spcPts val="1200"/>
              </a:spcBef>
              <a:defRPr sz="1800"/>
            </a:pPr>
            <a:r>
              <a:t>✓ Résultat: texte propre prêt pour la modélisation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📈 Visualisations - Analyses Effectuées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✓ Distribution des sentiments (bar chart + pie chart)</a:t>
            </a:r>
          </a:p>
          <a:p>
            <a:pPr>
              <a:spcBef>
                <a:spcPts val="1200"/>
              </a:spcBef>
              <a:defRPr sz="1800"/>
            </a:pPr>
            <a:r>
              <a:t>✓ Histogrammes des longueurs de texte par sentiment</a:t>
            </a:r>
          </a:p>
          <a:p>
            <a:pPr>
              <a:spcBef>
                <a:spcPts val="1200"/>
              </a:spcBef>
              <a:defRPr sz="1800"/>
            </a:pPr>
            <a:r>
              <a:t>✓ Distribution du nombre de mots par sentiment</a:t>
            </a:r>
          </a:p>
          <a:p>
            <a:pPr>
              <a:spcBef>
                <a:spcPts val="1200"/>
              </a:spcBef>
              <a:defRPr sz="1800"/>
            </a:pPr>
            <a:r>
              <a:t>✓ Word Clouds pour négatif et positif</a:t>
            </a:r>
          </a:p>
          <a:p>
            <a:pPr>
              <a:spcBef>
                <a:spcPts val="1200"/>
              </a:spcBef>
              <a:defRPr sz="1800"/>
            </a:pPr>
            <a:r>
              <a:t>✓ Top 20 mots les plus fréquents par sentiment</a:t>
            </a:r>
          </a:p>
          <a:p>
            <a:pPr>
              <a:spcBef>
                <a:spcPts val="1200"/>
              </a:spcBef>
              <a:defRPr sz="1800"/>
            </a:pPr>
            <a:r>
              <a:t>✓ Toutes les visualisations sauvegardées en haute résolution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☁️ Word Clouds: Mots Fréquents</a:t>
            </a:r>
          </a:p>
        </p:txBody>
      </p:sp>
      <p:pic>
        <p:nvPicPr>
          <p:cNvPr id="3" name="Picture 2" descr="sentiment_wordclou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17444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Mots les plus fréquents dans les tweets négatifs (rouge) et positifs (vert)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🤖 Semaine 3: Modèles ML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✓ Vectorisation: TF-IDF (10,000 features)</a:t>
            </a:r>
          </a:p>
          <a:p>
            <a:pPr>
              <a:spcBef>
                <a:spcPts val="1200"/>
              </a:spcBef>
              <a:defRPr sz="1800"/>
            </a:pPr>
            <a:r>
              <a:t>   • Term Frequency - Inverse Document Frequency</a:t>
            </a:r>
          </a:p>
          <a:p>
            <a:pPr>
              <a:spcBef>
                <a:spcPts val="1200"/>
              </a:spcBef>
              <a:defRPr sz="1800"/>
            </a:pPr>
            <a:r>
              <a:t>   • Unigrams + Bigrams (1-2 mots)</a:t>
            </a:r>
          </a:p>
          <a:p>
            <a:pPr>
              <a:spcBef>
                <a:spcPts val="1200"/>
              </a:spcBef>
              <a:defRPr sz="1800"/>
            </a:pPr>
            <a:r>
              <a:t>   • min_df=5, max_df=0.7</a:t>
            </a:r>
          </a:p>
          <a:p>
            <a:pPr>
              <a:spcBef>
                <a:spcPts val="1200"/>
              </a:spcBef>
              <a:defRPr sz="1800"/>
            </a:pPr>
            <a:r>
              <a:t>✓ Split: Train (80%) / Test (20%)</a:t>
            </a:r>
          </a:p>
          <a:p>
            <a:pPr>
              <a:spcBef>
                <a:spcPts val="1200"/>
              </a:spcBef>
              <a:defRPr sz="1800"/>
            </a:pPr>
            <a:r>
              <a:t>   • Train: 79,788 tweets</a:t>
            </a:r>
          </a:p>
          <a:p>
            <a:pPr>
              <a:spcBef>
                <a:spcPts val="1200"/>
              </a:spcBef>
              <a:defRPr sz="1800"/>
            </a:pPr>
            <a:r>
              <a:t>   • Test: 19,947 tweets</a:t>
            </a:r>
          </a:p>
          <a:p>
            <a:pPr>
              <a:spcBef>
                <a:spcPts val="1200"/>
              </a:spcBef>
              <a:defRPr sz="1800"/>
            </a:pPr>
            <a:r>
              <a:t>✓ Stratification pour maintenir la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🎯 Modèles ML Implémentés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1️⃣ Logistic Regression</a:t>
            </a:r>
          </a:p>
          <a:p>
            <a:pPr>
              <a:spcBef>
                <a:spcPts val="1200"/>
              </a:spcBef>
              <a:defRPr sz="1800"/>
            </a:pPr>
            <a:r>
              <a:t>   • Modèle linéaire simple et rapide</a:t>
            </a:r>
          </a:p>
          <a:p>
            <a:pPr>
              <a:spcBef>
                <a:spcPts val="1200"/>
              </a:spcBef>
              <a:defRPr sz="1800"/>
            </a:pPr>
            <a:r>
              <a:t>   • Bon baseline pour classification binaire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2️⃣ Support Vector Machine (LinearSVC)</a:t>
            </a:r>
          </a:p>
          <a:p>
            <a:pPr>
              <a:spcBef>
                <a:spcPts val="1200"/>
              </a:spcBef>
              <a:defRPr sz="1800"/>
            </a:pPr>
            <a:r>
              <a:t>   • Trouve le meilleur hyperplan de séparation</a:t>
            </a:r>
          </a:p>
          <a:p>
            <a:pPr>
              <a:spcBef>
                <a:spcPts val="1200"/>
              </a:spcBef>
              <a:defRPr sz="1800"/>
            </a:pPr>
            <a:r>
              <a:t>   • Excellent pour classification de texte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3️⃣ Random Forest</a:t>
            </a:r>
          </a:p>
          <a:p>
            <a:pPr>
              <a:spcBef>
                <a:spcPts val="1200"/>
              </a:spcBef>
              <a:defRPr sz="1800"/>
            </a:pPr>
            <a:r>
              <a:t>   • Ensemble de 100 arbres de décision</a:t>
            </a:r>
          </a:p>
          <a:p>
            <a:pPr>
              <a:spcBef>
                <a:spcPts val="1200"/>
              </a:spcBef>
              <a:defRPr sz="1800"/>
            </a:pPr>
            <a:r>
              <a:t>   • Capture les patterns non-linéaires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📊 Résultats: Comparaison des Modèles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79.19%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0.7918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SVM (LinearSVC)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79.15%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0.7915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77.24%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0.7724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📐 Métriques d'Évaluation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✓ Accuracy: Proportion de prédictions correctes</a:t>
            </a:r>
          </a:p>
          <a:p>
            <a:pPr>
              <a:spcBef>
                <a:spcPts val="1200"/>
              </a:spcBef>
              <a:defRPr sz="1800"/>
            </a:pPr>
            <a:r>
              <a:t>   • (TP + TN) / Total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✓ Precision: Parmi les prédictions positives, combien sont correctes</a:t>
            </a:r>
          </a:p>
          <a:p>
            <a:pPr>
              <a:spcBef>
                <a:spcPts val="1200"/>
              </a:spcBef>
              <a:defRPr sz="1800"/>
            </a:pPr>
            <a:r>
              <a:t>   • TP / (TP + FP)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✓ Recall: Parmi les vrais positifs, combien sont détectés</a:t>
            </a:r>
          </a:p>
          <a:p>
            <a:pPr>
              <a:spcBef>
                <a:spcPts val="1200"/>
              </a:spcBef>
              <a:defRPr sz="1800"/>
            </a:pPr>
            <a:r>
              <a:t>   • TP / (TP + FN)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✓ F1-Score: Moyenne harmonique de Precision et Recall</a:t>
            </a:r>
          </a:p>
          <a:p>
            <a:pPr>
              <a:spcBef>
                <a:spcPts val="1200"/>
              </a:spcBef>
              <a:defRPr sz="1800"/>
            </a:pPr>
            <a:r>
              <a:t>   • 2 × (Precision × Recall) / (Precision + Recall)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🎯 Matrices de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Analyse des erreurs pour chaque modèle: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✓ True Positives (TP): Positifs correctement prédits</a:t>
            </a:r>
          </a:p>
          <a:p>
            <a:pPr>
              <a:spcBef>
                <a:spcPts val="1200"/>
              </a:spcBef>
              <a:defRPr sz="1800"/>
            </a:pPr>
            <a:r>
              <a:t>✓ True Negatives (TN): Négatifs correctement prédits</a:t>
            </a:r>
          </a:p>
          <a:p>
            <a:pPr>
              <a:spcBef>
                <a:spcPts val="1200"/>
              </a:spcBef>
              <a:defRPr sz="1800"/>
            </a:pPr>
            <a:r>
              <a:t>✓ False Positives (FP): Négatifs prédits comme positifs</a:t>
            </a:r>
          </a:p>
          <a:p>
            <a:pPr>
              <a:spcBef>
                <a:spcPts val="1200"/>
              </a:spcBef>
              <a:defRPr sz="1800"/>
            </a:pPr>
            <a:r>
              <a:t>✓ False Negatives (FN): Positifs prédits comme négatifs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📊 3 matrices générées et sauvegardées</a:t>
            </a:r>
          </a:p>
          <a:p>
            <a:pPr>
              <a:spcBef>
                <a:spcPts val="1200"/>
              </a:spcBef>
              <a:defRPr sz="1800"/>
            </a:pPr>
            <a:r>
              <a:t>📈 ~79% de précision globale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📊 Matrice de Confusion - Logistic Regression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✅ Tests sur Exemples Réels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Tweet: "i love this product it is amazing"</a:t>
            </a:r>
          </a:p>
          <a:p>
            <a:pPr>
              <a:spcBef>
                <a:spcPts val="1200"/>
              </a:spcBef>
              <a:defRPr sz="1800"/>
            </a:pPr>
            <a:r>
              <a:t>→ Prédiction: 😊 POSITIVE ✓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Tweet: "this is the worst experience ever"</a:t>
            </a:r>
          </a:p>
          <a:p>
            <a:pPr>
              <a:spcBef>
                <a:spcPts val="1200"/>
              </a:spcBef>
              <a:defRPr sz="1800"/>
            </a:pPr>
            <a:r>
              <a:t>→ Prédiction: 😞 NEGATIVE ✓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Tweet: "great quality highly recommend"</a:t>
            </a:r>
          </a:p>
          <a:p>
            <a:pPr>
              <a:spcBef>
                <a:spcPts val="1200"/>
              </a:spcBef>
              <a:defRPr sz="1800"/>
            </a:pPr>
            <a:r>
              <a:t>→ Prédiction: 😊 POSITIVE ✓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Tweet: "waste of money do not buy"</a:t>
            </a:r>
          </a:p>
          <a:p>
            <a:pPr>
              <a:spcBef>
                <a:spcPts val="1200"/>
              </a:spcBef>
              <a:defRPr sz="1800"/>
            </a:pPr>
            <a:r>
              <a:t>→ Prédiction: 😞 NEGATIVE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🌟 Points Clés &amp; Réussites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✅ Dataset équilibré: pas de biais de classe</a:t>
            </a:r>
          </a:p>
          <a:p>
            <a:pPr>
              <a:spcBef>
                <a:spcPts val="1200"/>
              </a:spcBef>
              <a:defRPr sz="1800"/>
            </a:pPr>
            <a:r>
              <a:t>✅ Prétraitement robuste: texte propre et normalisé</a:t>
            </a:r>
          </a:p>
          <a:p>
            <a:pPr>
              <a:spcBef>
                <a:spcPts val="1200"/>
              </a:spcBef>
              <a:defRPr sz="1800"/>
            </a:pPr>
            <a:r>
              <a:t>✅ TF-IDF efficace: 10K features pertinentes</a:t>
            </a:r>
          </a:p>
          <a:p>
            <a:pPr>
              <a:spcBef>
                <a:spcPts val="1200"/>
              </a:spcBef>
              <a:defRPr sz="1800"/>
            </a:pPr>
            <a:r>
              <a:t>✅ 3 modèles ML implémentés et comparés</a:t>
            </a:r>
          </a:p>
          <a:p>
            <a:pPr>
              <a:spcBef>
                <a:spcPts val="1200"/>
              </a:spcBef>
              <a:defRPr sz="1800"/>
            </a:pPr>
            <a:r>
              <a:t>✅ 79% accuracy: bon résultat pour un baseline</a:t>
            </a:r>
          </a:p>
          <a:p>
            <a:pPr>
              <a:spcBef>
                <a:spcPts val="1200"/>
              </a:spcBef>
              <a:defRPr sz="1800"/>
            </a:pPr>
            <a:r>
              <a:t>✅ Tous les modèles sauvegardés pour réutilisation</a:t>
            </a:r>
          </a:p>
          <a:p>
            <a:pPr>
              <a:spcBef>
                <a:spcPts val="1200"/>
              </a:spcBef>
              <a:defRPr sz="1800"/>
            </a:pPr>
            <a:r>
              <a:t>✅ Visualisations complètes et professionnelles</a:t>
            </a:r>
          </a:p>
          <a:p>
            <a:pPr>
              <a:spcBef>
                <a:spcPts val="1200"/>
              </a:spcBef>
              <a:defRPr sz="1800"/>
            </a:pPr>
            <a:r>
              <a:t>✅ Code documenté et reproductible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🚀 Prochaines Étapes (Semaines 4-7)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📅 Semaine 4: Deep Learning</a:t>
            </a:r>
          </a:p>
          <a:p>
            <a:pPr>
              <a:spcBef>
                <a:spcPts val="1200"/>
              </a:spcBef>
              <a:defRPr sz="1800"/>
            </a:pPr>
            <a:r>
              <a:t>   • RNN, LSTM, GRU pour capturer le contexte séquentiel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📅 Semaine 5: Transfer Learning</a:t>
            </a:r>
          </a:p>
          <a:p>
            <a:pPr>
              <a:spcBef>
                <a:spcPts val="1200"/>
              </a:spcBef>
              <a:defRPr sz="1800"/>
            </a:pPr>
            <a:r>
              <a:t>   • BERT fine-tuning pour améliorer les performances</a:t>
            </a:r>
          </a:p>
          <a:p>
            <a:pPr>
              <a:spcBef>
                <a:spcPts val="1200"/>
              </a:spcBef>
              <a:defRPr sz="1800"/>
            </a:pPr>
            <a:r>
              <a:t>   • Hyperparameter tuning avec GridSearchCV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📅 Semaine 6: Clustering</a:t>
            </a:r>
          </a:p>
          <a:p>
            <a:pPr>
              <a:spcBef>
                <a:spcPts val="1200"/>
              </a:spcBef>
              <a:defRPr sz="1800"/>
            </a:pPr>
            <a:r>
              <a:t>   • Analyse non-supervisée (K-Means, DBSCAN)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📅 Semaine 7: Finalisation</a:t>
            </a:r>
          </a:p>
          <a:p>
            <a:pPr>
              <a:spcBef>
                <a:spcPts val="1200"/>
              </a:spcBef>
              <a:defRPr sz="1800"/>
            </a:pPr>
            <a:r>
              <a:t>   • Rapport final et présentation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📝 Section 3.2 - Éléments à Compléter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Pour compléter la section 3.2 du cahier des charges: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🔲 Bag of Words (BoW) - Autre méthode de vectorisation</a:t>
            </a:r>
          </a:p>
          <a:p>
            <a:pPr>
              <a:spcBef>
                <a:spcPts val="1200"/>
              </a:spcBef>
              <a:defRPr sz="1800"/>
            </a:pPr>
            <a:r>
              <a:t>🔲 Word Embeddings (Word2Vec, GloVe)</a:t>
            </a:r>
          </a:p>
          <a:p>
            <a:pPr>
              <a:spcBef>
                <a:spcPts val="1200"/>
              </a:spcBef>
              <a:defRPr sz="1800"/>
            </a:pPr>
            <a:r>
              <a:t>🔲 GridSearchCV / RandomizedSearchCV</a:t>
            </a:r>
          </a:p>
          <a:p>
            <a:pPr>
              <a:spcBef>
                <a:spcPts val="1200"/>
              </a:spcBef>
              <a:defRPr sz="1800"/>
            </a:pPr>
            <a:r>
              <a:t>   • Optimisation automatique des hyperparamètres</a:t>
            </a:r>
          </a:p>
          <a:p>
            <a:pPr>
              <a:spcBef>
                <a:spcPts val="1200"/>
              </a:spcBef>
              <a:defRPr sz="1800"/>
            </a:pPr>
            <a:r>
              <a:t>🔲 AUC-ROC comme métrique supplémentaire</a:t>
            </a:r>
          </a:p>
          <a:p>
            <a:pPr>
              <a:spcBef>
                <a:spcPts val="1200"/>
              </a:spcBef>
              <a:defRPr sz="1800"/>
            </a:pPr>
            <a:r>
              <a:t>🔲 Analyse approfondie des erreurs</a:t>
            </a:r>
          </a:p>
          <a:p>
            <a:pPr>
              <a:spcBef>
                <a:spcPts val="1200"/>
              </a:spcBef>
              <a:defRPr sz="1800"/>
            </a:pPr>
            <a:r>
              <a:t>   • Identifier les phrases difficiles à classer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→ Prévu dans Notebook 02B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🛠️ Technologies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🐍 Python 3.11</a:t>
            </a:r>
          </a:p>
          <a:p>
            <a:pPr>
              <a:spcBef>
                <a:spcPts val="1200"/>
              </a:spcBef>
              <a:defRPr sz="1800"/>
            </a:pPr>
            <a:r>
              <a:t>📓 Jupyter Notebook</a:t>
            </a:r>
          </a:p>
          <a:p>
            <a:pPr>
              <a:spcBef>
                <a:spcPts val="1200"/>
              </a:spcBef>
              <a:defRPr sz="1800"/>
            </a:pPr>
            <a:r>
              <a:t>📊 Pandas &amp; NumPy (manipulation de données)</a:t>
            </a:r>
          </a:p>
          <a:p>
            <a:pPr>
              <a:spcBef>
                <a:spcPts val="1200"/>
              </a:spcBef>
              <a:defRPr sz="1800"/>
            </a:pPr>
            <a:r>
              <a:t>🤖 Scikit-learn (modèles ML)</a:t>
            </a:r>
          </a:p>
          <a:p>
            <a:pPr>
              <a:spcBef>
                <a:spcPts val="1200"/>
              </a:spcBef>
              <a:defRPr sz="1800"/>
            </a:pPr>
            <a:r>
              <a:t>📈 Matplotlib &amp; Seaborn (visualisations)</a:t>
            </a:r>
          </a:p>
          <a:p>
            <a:pPr>
              <a:spcBef>
                <a:spcPts val="1200"/>
              </a:spcBef>
              <a:defRPr sz="1800"/>
            </a:pPr>
            <a:r>
              <a:t>💬 NLTK (traitement du langage naturel)</a:t>
            </a:r>
          </a:p>
          <a:p>
            <a:pPr>
              <a:spcBef>
                <a:spcPts val="1200"/>
              </a:spcBef>
              <a:defRPr sz="1800"/>
            </a:pPr>
            <a:r>
              <a:t>☁️ WordCloud (nuages de mots)</a:t>
            </a:r>
          </a:p>
          <a:p>
            <a:pPr>
              <a:spcBef>
                <a:spcPts val="1200"/>
              </a:spcBef>
              <a:defRPr sz="1800"/>
            </a:pPr>
            <a:r>
              <a:t>💾 Pickle (sauvegarde des modèles)</a:t>
            </a:r>
          </a:p>
          <a:p>
            <a:pPr>
              <a:spcBef>
                <a:spcPts val="1200"/>
              </a:spcBef>
              <a:defRPr sz="1800"/>
            </a:pPr>
            <a:r>
              <a:t>📁 Git &amp; GitHub (versioning)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✅ Semaines 1-3 complétées avec succès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📊 Dataset exploré et bien compris</a:t>
            </a:r>
          </a:p>
          <a:p>
            <a:pPr>
              <a:spcBef>
                <a:spcPts val="1200"/>
              </a:spcBef>
              <a:defRPr sz="1800"/>
            </a:pPr>
            <a:r>
              <a:t>🧹 Prétraitement efficace et reproductible</a:t>
            </a:r>
          </a:p>
          <a:p>
            <a:pPr>
              <a:spcBef>
                <a:spcPts val="1200"/>
              </a:spcBef>
              <a:defRPr sz="1800"/>
            </a:pPr>
            <a:r>
              <a:t>🤖 Baseline ML solide: 79% accuracy</a:t>
            </a:r>
          </a:p>
          <a:p>
            <a:pPr>
              <a:spcBef>
                <a:spcPts val="1200"/>
              </a:spcBef>
              <a:defRPr sz="1800"/>
            </a:pPr>
            <a:r>
              <a:t>📈 Visualisations claires et informatives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🎯 Objectif atteint pour cette phase</a:t>
            </a:r>
          </a:p>
          <a:p>
            <a:pPr>
              <a:spcBef>
                <a:spcPts val="1200"/>
              </a:spcBef>
              <a:defRPr sz="1800"/>
            </a:pPr>
            <a:r>
              <a:t>🚀 Prêt pour les modèles Deep Learning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📖 Code disponible sur GitHub</a:t>
            </a:r>
          </a:p>
          <a:p>
            <a:pPr>
              <a:spcBef>
                <a:spcPts val="1200"/>
              </a:spcBef>
              <a:defRPr sz="1800"/>
            </a:pPr>
            <a:r>
              <a:t>📧 Questions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Merci pour votre attention 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